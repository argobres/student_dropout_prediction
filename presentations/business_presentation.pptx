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5"/>
  </p:normalViewPr>
  <p:slideViewPr>
    <p:cSldViewPr snapToGrid="0">
      <p:cViewPr varScale="1">
        <p:scale>
          <a:sx n="91" d="100"/>
          <a:sy n="91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Students</c:v>
          </c:tx>
          <c:spPr>
            <a:solidFill>
              <a:srgbClr val="287BA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C75E59"/>
              </a:solidFill>
            </c:spPr>
            <c:extLst>
              <c:ext xmlns:c16="http://schemas.microsoft.com/office/drawing/2014/chart" uri="{C3380CC4-5D6E-409C-BE32-E72D297353CC}">
                <c16:uniqueId val="{00000001-8D75-F847-A21E-FAE07605C7C3}"/>
              </c:ext>
            </c:extLst>
          </c:dPt>
          <c:dPt>
            <c:idx val="1"/>
            <c:invertIfNegative val="0"/>
            <c:bubble3D val="0"/>
            <c:spPr>
              <a:solidFill>
                <a:srgbClr val="D8A745"/>
              </a:solidFill>
            </c:spPr>
            <c:extLst>
              <c:ext xmlns:c16="http://schemas.microsoft.com/office/drawing/2014/chart" uri="{C3380CC4-5D6E-409C-BE32-E72D297353CC}">
                <c16:uniqueId val="{00000003-8D75-F847-A21E-FAE07605C7C3}"/>
              </c:ext>
            </c:extLst>
          </c:dPt>
          <c:dPt>
            <c:idx val="2"/>
            <c:invertIfNegative val="0"/>
            <c:bubble3D val="0"/>
            <c:spPr>
              <a:solidFill>
                <a:srgbClr val="478767"/>
              </a:solidFill>
            </c:spPr>
            <c:extLst>
              <c:ext xmlns:c16="http://schemas.microsoft.com/office/drawing/2014/chart" uri="{C3380CC4-5D6E-409C-BE32-E72D297353CC}">
                <c16:uniqueId val="{00000005-8D75-F847-A21E-FAE07605C7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24D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1421</c:v>
                </c:pt>
                <c:pt idx="1">
                  <c:v>794</c:v>
                </c:pt>
                <c:pt idx="2">
                  <c:v>2209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D75-F847-A21E-FAE07605C7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0E6EA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Students</c:v>
          </c:tx>
          <c:spPr>
            <a:solidFill>
              <a:srgbClr val="287BA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287BA0"/>
              </a:solidFill>
            </c:spPr>
            <c:extLst>
              <c:ext xmlns:c16="http://schemas.microsoft.com/office/drawing/2014/chart" uri="{C3380CC4-5D6E-409C-BE32-E72D297353CC}">
                <c16:uniqueId val="{00000001-99D9-524C-9AF7-261E5E0C8D73}"/>
              </c:ext>
            </c:extLst>
          </c:dPt>
          <c:dPt>
            <c:idx val="1"/>
            <c:invertIfNegative val="0"/>
            <c:bubble3D val="0"/>
            <c:spPr>
              <a:solidFill>
                <a:srgbClr val="C75E59"/>
              </a:solidFill>
            </c:spPr>
            <c:extLst>
              <c:ext xmlns:c16="http://schemas.microsoft.com/office/drawing/2014/chart" uri="{C3380CC4-5D6E-409C-BE32-E72D297353CC}">
                <c16:uniqueId val="{00000003-99D9-524C-9AF7-261E5E0C8D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24D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Identified</c:v>
                </c:pt>
                <c:pt idx="1">
                  <c:v>Missed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208</c:v>
                </c:pt>
                <c:pt idx="1">
                  <c:v>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9D9-524C-9AF7-261E5E0C8D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0E6EA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Students</c:v>
          </c:tx>
          <c:spPr>
            <a:solidFill>
              <a:srgbClr val="287BA0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5A-AD41-92BD-806E9796C35F}"/>
              </c:ext>
            </c:extLst>
          </c:dPt>
          <c:dPt>
            <c:idx val="1"/>
            <c:invertIfNegative val="0"/>
            <c:bubble3D val="0"/>
            <c:spPr>
              <a:solidFill>
                <a:srgbClr val="D8A745"/>
              </a:solidFill>
            </c:spPr>
            <c:extLst>
              <c:ext xmlns:c16="http://schemas.microsoft.com/office/drawing/2014/chart" uri="{C3380CC4-5D6E-409C-BE32-E72D297353CC}">
                <c16:uniqueId val="{00000003-4C5A-AD41-92BD-806E9796C35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24D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Actual dropout</c:v>
                </c:pt>
                <c:pt idx="1">
                  <c:v>Other outcome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208</c:v>
                </c:pt>
                <c:pt idx="1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C5A-AD41-92BD-806E9796C3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0E6EA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>
              <a:srgbClr val="287BA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24D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Under 20
(n=75)</c:v>
                </c:pt>
                <c:pt idx="1">
                  <c:v>20–24
(n=79)</c:v>
                </c:pt>
                <c:pt idx="2">
                  <c:v>25–34
(n=91)</c:v>
                </c:pt>
                <c:pt idx="3">
                  <c:v>35+
(n=39)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0.54700000000000004</c:v>
                </c:pt>
                <c:pt idx="1">
                  <c:v>0.68400000000000005</c:v>
                </c:pt>
                <c:pt idx="2">
                  <c:v>0.86799999999999999</c:v>
                </c:pt>
                <c:pt idx="3">
                  <c:v>0.872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759-5E4A-8BA2-6F3381D9F0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0E6EA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Capstone project •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UCI dataset, doi.org/10.24432/C5MC89; project descriptive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analysis; proposed actions are not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final random forest test predictions; held-out sample n = 885.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analysis; proposed actions are not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analysis; proposed actions are not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analysis; proposed actions are not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fixed-model test fairness audit; group denominators are actual dropouts.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analysis; proposed actions are not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analysis; proposed actions are not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analysis; proposed actions are not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A48E98E-15B2-4AFF-85A1-6EE4AD8A2942}"/>
              </a:ext>
            </a:extLst>
          </p:cNvPr>
          <p:cNvSpPr>
            <a:spLocks noGrp="1"/>
          </p:cNvSpPr>
          <p:nvPr/>
        </p:nvSpPr>
        <p:spPr>
          <a:xfrm>
            <a:off x="571500" y="2444698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 dirty="0">
                <a:solidFill>
                  <a:schemeClr val="accent2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Student Support Analytics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20D57-9BA1-4504-A111-6F76EF73D80C}"/>
              </a:ext>
            </a:extLst>
          </p:cNvPr>
          <p:cNvSpPr>
            <a:spLocks noGrp="1"/>
          </p:cNvSpPr>
          <p:nvPr/>
        </p:nvSpPr>
        <p:spPr>
          <a:xfrm>
            <a:off x="619125" y="3323868"/>
            <a:ext cx="110490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 dirty="0">
                <a:solidFill>
                  <a:schemeClr val="bg2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Business assessment of a student </a:t>
            </a:r>
            <a:r>
              <a:rPr lang="en-US" sz="2400" b="0" dirty="0">
                <a:solidFill>
                  <a:schemeClr val="bg2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dropout</a:t>
            </a:r>
            <a:r>
              <a:rPr sz="2400" b="0" dirty="0">
                <a:solidFill>
                  <a:schemeClr val="bg2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prediction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A64673-B01D-402C-B64E-EB059E6108A6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E6EBB-E347-26C0-2F51-C1C437A2C285}"/>
              </a:ext>
            </a:extLst>
          </p:cNvPr>
          <p:cNvSpPr txBox="1"/>
          <p:nvPr/>
        </p:nvSpPr>
        <p:spPr>
          <a:xfrm>
            <a:off x="619125" y="4231613"/>
            <a:ext cx="60997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>
                <a:solidFill>
                  <a:schemeClr val="bg1"/>
                </a:solidFill>
                <a:latin typeface="Aptos" panose="020B0004020202020204" pitchFamily="34" charset="0"/>
              </a:rPr>
              <a:t>Al Christian Gobres</a:t>
            </a:r>
          </a:p>
          <a:p>
            <a:r>
              <a:rPr lang="en-PH" sz="1600" i="1" dirty="0">
                <a:solidFill>
                  <a:schemeClr val="bg1"/>
                </a:solidFill>
                <a:latin typeface="Aptos" panose="020B0004020202020204" pitchFamily="34" charset="0"/>
              </a:rPr>
              <a:t>Postgraduate Diploma in AI and Machine Learning</a:t>
            </a:r>
          </a:p>
          <a:p>
            <a:r>
              <a:rPr lang="en-PH" sz="1600" i="1" dirty="0">
                <a:solidFill>
                  <a:schemeClr val="bg1"/>
                </a:solidFill>
                <a:latin typeface="Aptos" panose="020B0004020202020204" pitchFamily="34" charset="0"/>
              </a:rPr>
              <a:t>September 2026</a:t>
            </a:r>
            <a:endParaRPr lang="en-US" sz="1600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58332-19D5-B6FA-510D-68FC93F10ADB}"/>
              </a:ext>
            </a:extLst>
          </p:cNvPr>
          <p:cNvSpPr txBox="1"/>
          <p:nvPr/>
        </p:nvSpPr>
        <p:spPr>
          <a:xfrm>
            <a:off x="571500" y="5906248"/>
            <a:ext cx="10630365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2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i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This study evaluates a model that classifies students as Dropout, Enrolled, or Graduate.</a:t>
            </a:r>
            <a:endParaRPr lang="en-PH" i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endParaRPr lang="en-PH" b="0" i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22392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03E688C-2258-42DD-B2BD-9FE6B53F407C}"/>
              </a:ext>
            </a:extLst>
          </p:cNvPr>
          <p:cNvSpPr>
            <a:spLocks noGrp="1"/>
          </p:cNvSpPr>
          <p:nvPr/>
        </p:nvSpPr>
        <p:spPr>
          <a:xfrm>
            <a:off x="571500" y="494602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3200" b="1" dirty="0">
                <a:latin typeface="Aptos" panose="020B0004020202020204" pitchFamily="34" charset="0"/>
              </a:rPr>
              <a:t>Nearly One-Third of the Study Cohort Dropped Out</a:t>
            </a:r>
            <a:endParaRPr sz="4000" b="1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DD5BB0-73E1-4D32-9BB4-6C36AAAE5217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Source: UCI dataset, doi.org/10.24432/C5MC89; project descriptive analysis.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92C886-5AAD-4F38-8AFC-48A7E27790C4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935436757"/>
              </p:ext>
            </p:extLst>
          </p:nvPr>
        </p:nvGraphicFramePr>
        <p:xfrm>
          <a:off x="571500" y="1952625"/>
          <a:ext cx="704850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6B21FA6-E741-4C23-95B0-B5D6C79995A9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4,424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2FEFFA-4D09-4141-B813-9E27BBB4D356}"/>
              </a:ext>
            </a:extLst>
          </p:cNvPr>
          <p:cNvSpPr>
            <a:spLocks noGrp="1"/>
          </p:cNvSpPr>
          <p:nvPr/>
        </p:nvSpPr>
        <p:spPr>
          <a:xfrm>
            <a:off x="8096250" y="278734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students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02B4F-5CA8-42EB-B7BE-D877D6178217}"/>
              </a:ext>
            </a:extLst>
          </p:cNvPr>
          <p:cNvSpPr>
            <a:spLocks noGrp="1"/>
          </p:cNvSpPr>
          <p:nvPr/>
        </p:nvSpPr>
        <p:spPr>
          <a:xfrm>
            <a:off x="8096250" y="3214687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dirty="0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36 original predictors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B4ED4-86DF-41FB-9709-C7E6E59C5E7F}"/>
              </a:ext>
            </a:extLst>
          </p:cNvPr>
          <p:cNvSpPr>
            <a:spLocks noGrp="1"/>
          </p:cNvSpPr>
          <p:nvPr/>
        </p:nvSpPr>
        <p:spPr>
          <a:xfrm>
            <a:off x="8096250" y="4038600"/>
            <a:ext cx="33337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Academic, demographic, financial and economic information.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F93C23-6407-4F84-87A5-D7572742DF89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b="0" dirty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32.1% dropped out in this dataset. </a:t>
            </a:r>
            <a:r>
              <a:rPr lang="en-PH" dirty="0">
                <a:latin typeface="Aptos" panose="020B0004020202020204" pitchFamily="34" charset="0"/>
              </a:rPr>
              <a:t>This supports investigating more focused student assistance. </a:t>
            </a:r>
            <a:endParaRPr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79A40-78B8-452C-54D9-0F0DF5008E5F}"/>
              </a:ext>
            </a:extLst>
          </p:cNvPr>
          <p:cNvSpPr txBox="1"/>
          <p:nvPr/>
        </p:nvSpPr>
        <p:spPr>
          <a:xfrm rot="16200000">
            <a:off x="-850255" y="2826628"/>
            <a:ext cx="257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No. of Students</a:t>
            </a:r>
          </a:p>
        </p:txBody>
      </p:sp>
    </p:spTree>
    <p:extLst>
      <p:ext uri="{BB962C8B-B14F-4D97-AF65-F5344CB8AC3E}">
        <p14:creationId xmlns:p14="http://schemas.microsoft.com/office/powerpoint/2010/main" val="206708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8B0AD1-78C8-4493-9158-5D98FDAE8BC0}"/>
              </a:ext>
            </a:extLst>
          </p:cNvPr>
          <p:cNvSpPr>
            <a:spLocks noGrp="1"/>
          </p:cNvSpPr>
          <p:nvPr/>
        </p:nvSpPr>
        <p:spPr>
          <a:xfrm>
            <a:off x="571499" y="361950"/>
            <a:ext cx="1172829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3200" b="1" dirty="0"/>
              <a:t>Predictions Could Help Staff Prioritize Student Support</a:t>
            </a:r>
            <a:endParaRPr sz="3200" b="1" dirty="0">
              <a:solidFill>
                <a:srgbClr val="17324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21A4F-CE1B-4986-BC5E-5F2C9CD64814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3501017107"/>
              </p:ext>
            </p:extLst>
          </p:nvPr>
        </p:nvGraphicFramePr>
        <p:xfrm>
          <a:off x="619125" y="1403195"/>
          <a:ext cx="11049000" cy="3381378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Proposed activity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1. Review information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Validate records available at an agreed prediction checkpoint.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2. Generate predictions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Identify cases for review, with uncertainty acknowledged.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3. Human review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Check records and consider circumstances absent from the model.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4. Offer assistance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Provide academic guidance or financial-support referrals.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5. Monitor outcomes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Record engagement, assistance received and subsequent outcomes.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0869590-922A-4315-9D2A-36EB53228727}"/>
              </a:ext>
            </a:extLst>
          </p:cNvPr>
          <p:cNvSpPr>
            <a:spLocks noGrp="1"/>
          </p:cNvSpPr>
          <p:nvPr/>
        </p:nvSpPr>
        <p:spPr>
          <a:xfrm>
            <a:off x="571500" y="5159068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287BA0"/>
                </a:solidFill>
                <a:latin typeface="Helvetica Neue"/>
                <a:ea typeface="Helvetica Neue"/>
                <a:cs typeface="Helvetica Neue"/>
              </a:rPr>
              <a:t>Timing matters</a:t>
            </a:r>
            <a:endParaRPr lang="en-US" b="1" dirty="0">
              <a:solidFill>
                <a:srgbClr val="287BA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E9382-98D1-E4D4-4510-6AFF6B812A7C}"/>
              </a:ext>
            </a:extLst>
          </p:cNvPr>
          <p:cNvSpPr txBox="1"/>
          <p:nvPr/>
        </p:nvSpPr>
        <p:spPr>
          <a:xfrm>
            <a:off x="571500" y="5483602"/>
            <a:ext cx="11048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>
                <a:latin typeface="Aptos" panose="020B0004020202020204" pitchFamily="34" charset="0"/>
              </a:rPr>
              <a:t>The current model uses second-semester information. Prospective use requires predicting an outcome that has not already occurred. Enrollment-time prediction needs a separately evaluated model.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85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D428D5-41E6-4FAD-B9D7-45ECFB1E8D8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3600" b="1" dirty="0">
                <a:latin typeface="Aptos" panose="020B0004020202020204" pitchFamily="34" charset="0"/>
              </a:rPr>
              <a:t>The Model Identified 73% of Actual Dropouts</a:t>
            </a:r>
            <a:endParaRPr sz="3600" b="1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8390E5-73E5-442C-9DBB-A9BDCF1FB7D8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Source: final random forest test predictions; held-out sample n = 885.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9901FE-1FD8-4D42-9449-1EAA2D3C2F98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F8718-35ED-4609-BD13-674B85C7F848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Among actual dropouts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73F18-44E5-4DB7-948C-4BDF21804B99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Among dropout predictions</a:t>
            </a:r>
          </a:p>
        </p:txBody>
      </p:sp>
      <p:graphicFrame>
        <p:nvGraphicFramePr>
          <p:cNvPr id="18" name="Chart"/>
          <p:cNvGraphicFramePr/>
          <p:nvPr>
            <p:extLst>
              <p:ext uri="{D42A27DB-BD31-4B8C-83A1-F6EECF244321}">
                <p14:modId xmlns:p14="http://schemas.microsoft.com/office/powerpoint/2010/main" val="2168590165"/>
              </p:ext>
            </p:extLst>
          </p:nvPr>
        </p:nvGraphicFramePr>
        <p:xfrm>
          <a:off x="571500" y="2026734"/>
          <a:ext cx="5000625" cy="2428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"/>
          <p:cNvGraphicFramePr/>
          <p:nvPr>
            <p:extLst>
              <p:ext uri="{D42A27DB-BD31-4B8C-83A1-F6EECF244321}">
                <p14:modId xmlns:p14="http://schemas.microsoft.com/office/powerpoint/2010/main" val="2140613339"/>
              </p:ext>
            </p:extLst>
          </p:nvPr>
        </p:nvGraphicFramePr>
        <p:xfrm>
          <a:off x="6477000" y="2076450"/>
          <a:ext cx="5000625" cy="2428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8CA6BFE-4EF1-4F63-B930-AF1BF00D37B1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73.2% recall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BFED3C-521E-45F3-A597-AC4EE40A8D9A}"/>
              </a:ext>
            </a:extLst>
          </p:cNvPr>
          <p:cNvSpPr>
            <a:spLocks noGrp="1"/>
          </p:cNvSpPr>
          <p:nvPr/>
        </p:nvSpPr>
        <p:spPr>
          <a:xfrm>
            <a:off x="6477000" y="4457700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86.0% precision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757C9E-A2BA-4F84-9C9E-BC403A281431}"/>
              </a:ext>
            </a:extLst>
          </p:cNvPr>
          <p:cNvSpPr>
            <a:spLocks noGrp="1"/>
          </p:cNvSpPr>
          <p:nvPr/>
        </p:nvSpPr>
        <p:spPr>
          <a:xfrm>
            <a:off x="571500" y="5516672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dirty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Overall accuracy: 76.2% (674 of 885). </a:t>
            </a:r>
            <a:endParaRPr sz="1875"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F4D70-2CD5-8E4F-9281-589DF5E4A539}"/>
              </a:ext>
            </a:extLst>
          </p:cNvPr>
          <p:cNvSpPr txBox="1"/>
          <p:nvPr/>
        </p:nvSpPr>
        <p:spPr>
          <a:xfrm>
            <a:off x="571500" y="4887694"/>
            <a:ext cx="4914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400" dirty="0">
                <a:latin typeface="Aptos" panose="020B0004020202020204" pitchFamily="34" charset="0"/>
              </a:rPr>
              <a:t>The model identified approximately 73 of every 100 actual dropouts.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99B80-260C-D91B-5876-3573AB0AB1B6}"/>
              </a:ext>
            </a:extLst>
          </p:cNvPr>
          <p:cNvSpPr txBox="1"/>
          <p:nvPr/>
        </p:nvSpPr>
        <p:spPr>
          <a:xfrm>
            <a:off x="6478162" y="4868258"/>
            <a:ext cx="4914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400" dirty="0">
                <a:latin typeface="Aptos" panose="020B0004020202020204" pitchFamily="34" charset="0"/>
              </a:rPr>
              <a:t>Approximately 86 of every 100 dropout predictions were correct.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56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97155D-543D-4AF3-809C-80E59DA6607C}"/>
              </a:ext>
            </a:extLst>
          </p:cNvPr>
          <p:cNvSpPr>
            <a:spLocks noGrp="1"/>
          </p:cNvSpPr>
          <p:nvPr/>
        </p:nvSpPr>
        <p:spPr>
          <a:xfrm>
            <a:off x="571499" y="361950"/>
            <a:ext cx="11471817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3200" b="1" dirty="0">
                <a:latin typeface="Aptos" panose="020B0004020202020204" pitchFamily="34" charset="0"/>
              </a:rPr>
              <a:t>Institutional Value Depends on Improving Student Outcomes</a:t>
            </a:r>
            <a:endParaRPr sz="3200" b="1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5291ED-3CBF-4244-8016-B1DB96672490}"/>
              </a:ext>
            </a:extLst>
          </p:cNvPr>
          <p:cNvSpPr>
            <a:spLocks noGrp="1"/>
          </p:cNvSpPr>
          <p:nvPr/>
        </p:nvSpPr>
        <p:spPr>
          <a:xfrm>
            <a:off x="571499" y="976309"/>
            <a:ext cx="110490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2000" dirty="0">
                <a:latin typeface="Aptos" panose="020B0004020202020204" pitchFamily="34" charset="0"/>
              </a:rPr>
              <a:t>A prediction creates value only when it supports an effective response that improves on existing practice</a:t>
            </a:r>
            <a:endParaRPr sz="2000"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2D262F-1E64-41D2-B35E-E5A564851057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4156455521"/>
              </p:ext>
            </p:extLst>
          </p:nvPr>
        </p:nvGraphicFramePr>
        <p:xfrm>
          <a:off x="571500" y="1905000"/>
          <a:ext cx="11049000" cy="3381378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Potential benefit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Proposed measure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More focused outreach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Staff time, students contacted and completed reviews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Better access to assistance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Support uptake and unmet need across student groups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Improved retention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Additional students retained compared with usual practice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More efficient allocation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Programme</a:t>
                      </a:r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 cost per additional student retained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Better student experience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Student feedback, complaints and correction requests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E1AC83F-D925-43A3-A6B0-75005C3150A5}"/>
              </a:ext>
            </a:extLst>
          </p:cNvPr>
          <p:cNvSpPr>
            <a:spLocks noGrp="1"/>
          </p:cNvSpPr>
          <p:nvPr/>
        </p:nvSpPr>
        <p:spPr>
          <a:xfrm>
            <a:off x="482290" y="5524501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1875" b="1" dirty="0">
                <a:latin typeface="Aptos" panose="020B0004020202020204" pitchFamily="34" charset="0"/>
              </a:rPr>
              <a:t>The project demonstrates predictive performance. It has not measured improvements in retention, staff productivity, or student satisfaction caused by model-assisted support.</a:t>
            </a:r>
            <a:endParaRPr sz="1875" b="1" dirty="0">
              <a:solidFill>
                <a:srgbClr val="287BA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5586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6AFAA98-549B-46F0-A768-A237230862D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3000" b="1" dirty="0">
                <a:latin typeface="Aptos" panose="020B0004020202020204" pitchFamily="34" charset="0"/>
              </a:rPr>
              <a:t>ROI Requires Measured Costs and Additional Retention</a:t>
            </a:r>
            <a:endParaRPr sz="3000" b="1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6AEFC-7C24-4872-9CB6-50ADBBC18545}"/>
              </a:ext>
            </a:extLst>
          </p:cNvPr>
          <p:cNvSpPr>
            <a:spLocks noGrp="1"/>
          </p:cNvSpPr>
          <p:nvPr/>
        </p:nvSpPr>
        <p:spPr>
          <a:xfrm>
            <a:off x="571500" y="953429"/>
            <a:ext cx="110490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1875" dirty="0">
                <a:latin typeface="Aptos" panose="020B0004020202020204" pitchFamily="34" charset="0"/>
              </a:rPr>
              <a:t>Financial return cannot be established until program costs and retention improvements attributable to the intervention are measured.</a:t>
            </a:r>
            <a:endParaRPr sz="1875"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96586D-0AF0-4655-A017-74EFE4693E0A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263A52-3FAA-4214-9FC8-3DDC6A6F6FCD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109537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Net benefit = additional retentions × net value per student − program</a:t>
            </a:r>
            <a:r>
              <a:rPr lang="en-US" sz="2325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</a:t>
            </a:r>
            <a:r>
              <a:rPr sz="2325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cost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821C18-84F3-4F94-B0E1-800C39F238F6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0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ROI = net benefit ÷ cost     |     Break-even retentions = cost ÷ net value per student</a:t>
            </a:r>
          </a:p>
        </p:txBody>
      </p:sp>
      <p:graphicFrame>
        <p:nvGraphicFramePr>
          <p:cNvPr id="15" name="Table 14"/>
          <p:cNvGraphicFramePr/>
          <p:nvPr>
            <p:extLst>
              <p:ext uri="{D42A27DB-BD31-4B8C-83A1-F6EECF244321}">
                <p14:modId xmlns:p14="http://schemas.microsoft.com/office/powerpoint/2010/main" val="3445507137"/>
              </p:ext>
            </p:extLst>
          </p:nvPr>
        </p:nvGraphicFramePr>
        <p:xfrm>
          <a:off x="571500" y="3705225"/>
          <a:ext cx="11049000" cy="1885952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input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needed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 cost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Integration, monitoring, staff review, outreach and assistance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 value per 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Finance estimate after incremental costs, for a defined period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retention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attributable to support versus usual practice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750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7A2C0A-F32C-4184-9D96-27A75A6E6E9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3200" b="1" dirty="0">
                <a:latin typeface="Aptos" panose="020B0004020202020204" pitchFamily="34" charset="0"/>
              </a:rPr>
              <a:t>Human Review and Safeguards Are Essential</a:t>
            </a:r>
            <a:endParaRPr sz="3200" b="1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60C343-BDDC-4FBE-B483-2A95A8C8D25D}"/>
              </a:ext>
            </a:extLst>
          </p:cNvPr>
          <p:cNvSpPr>
            <a:spLocks noGrp="1"/>
          </p:cNvSpPr>
          <p:nvPr/>
        </p:nvSpPr>
        <p:spPr>
          <a:xfrm>
            <a:off x="619125" y="990600"/>
            <a:ext cx="110490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1875" dirty="0"/>
              <a:t>Students need a route to correct inaccurate information. Named institutional owners must oversee data, interventions, and evaluation.</a:t>
            </a:r>
            <a:endParaRPr sz="1875" b="0" dirty="0">
              <a:solidFill>
                <a:srgbClr val="51617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97463E-5379-4AC8-8A75-197FBAD1F472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4272686336"/>
              </p:ext>
            </p:extLst>
          </p:nvPr>
        </p:nvGraphicFramePr>
        <p:xfrm>
          <a:off x="571500" y="1857375"/>
          <a:ext cx="11049000" cy="3857623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089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Proposed safeguard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Students needing help are missed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Preserve staff referrals, self-referrals and standard support.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Incorrect labels cause stigma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Require human review and neutral, supportive communication.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Financial hardship shapes decisions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Offer assistance; prohibit punitive applications.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Inputs reveal an existing outcome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Verify timestamps and a prospective prediction checkpoint.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Sensitive records are exposed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Limit access, minimize stored data and define retention rules.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Performance changes over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Monitor later cohorts, with a process to pause or revise use.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94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E6903C-DCE0-4512-809D-62D5B69909D2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00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Younger dropouts were less often identified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0900CF-29CD-49E9-AAB8-ABC9C1B07AA8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10490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 dirty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Percentage of actual dropouts correctly identified, by age group.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6E8EB4-D81E-42A0-B2F9-EA1B75CAEAD8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4" name="Chart"/>
          <p:cNvGraphicFramePr/>
          <p:nvPr>
            <p:extLst>
              <p:ext uri="{D42A27DB-BD31-4B8C-83A1-F6EECF244321}">
                <p14:modId xmlns:p14="http://schemas.microsoft.com/office/powerpoint/2010/main" val="163376111"/>
              </p:ext>
            </p:extLst>
          </p:nvPr>
        </p:nvGraphicFramePr>
        <p:xfrm>
          <a:off x="571500" y="1952625"/>
          <a:ext cx="714375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E759391-9C5E-4765-BC75-A7AB954D020E}"/>
              </a:ext>
            </a:extLst>
          </p:cNvPr>
          <p:cNvSpPr>
            <a:spLocks noGrp="1"/>
          </p:cNvSpPr>
          <p:nvPr/>
        </p:nvSpPr>
        <p:spPr>
          <a:xfrm>
            <a:off x="8239125" y="2133600"/>
            <a:ext cx="314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C75E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C75E59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34 of 75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A12589-B3FE-4499-886B-046899D46672}"/>
              </a:ext>
            </a:extLst>
          </p:cNvPr>
          <p:cNvSpPr>
            <a:spLocks noGrp="1"/>
          </p:cNvSpPr>
          <p:nvPr/>
        </p:nvSpPr>
        <p:spPr>
          <a:xfrm>
            <a:off x="8239125" y="2733675"/>
            <a:ext cx="3681529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actual dropouts </a:t>
            </a:r>
            <a:endParaRPr lang="en-US" sz="2400" b="0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under 20 were </a:t>
            </a:r>
            <a:r>
              <a:rPr sz="2400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missed.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0065B9-313D-4A59-BF5E-E0F448D285D2}"/>
              </a:ext>
            </a:extLst>
          </p:cNvPr>
          <p:cNvSpPr>
            <a:spLocks noGrp="1"/>
          </p:cNvSpPr>
          <p:nvPr/>
        </p:nvSpPr>
        <p:spPr>
          <a:xfrm>
            <a:off x="8239125" y="4038600"/>
            <a:ext cx="31432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 dirty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An outreach process based only on model flags could </a:t>
            </a:r>
            <a:r>
              <a:rPr sz="2000" b="1" dirty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underserve younger students.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4CBF18-B88E-4B95-88F9-358FA37741B2}"/>
              </a:ext>
            </a:extLst>
          </p:cNvPr>
          <p:cNvSpPr>
            <a:spLocks noGrp="1"/>
          </p:cNvSpPr>
          <p:nvPr/>
        </p:nvSpPr>
        <p:spPr>
          <a:xfrm>
            <a:off x="571500" y="56102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1725" dirty="0">
                <a:latin typeface="Aptos" panose="020B0004020202020204" pitchFamily="34" charset="0"/>
              </a:rPr>
              <a:t>Among students with outstanding fees, seven of 15 non-dropouts were incorrectly labelled Dropout. This small denominator makes the estimated error rate uncertain (require investigation) </a:t>
            </a:r>
            <a:endParaRPr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4888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F8876F-08EC-4A1B-A194-FED59D0DD47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PH" sz="3200" b="1" dirty="0">
                <a:latin typeface="Aptos" panose="020B0004020202020204" pitchFamily="34" charset="0"/>
              </a:rPr>
              <a:t>Broader Implementation Requires Prospective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95AC65-102B-471B-945E-29578486170E}"/>
              </a:ext>
            </a:extLst>
          </p:cNvPr>
          <p:cNvSpPr>
            <a:spLocks noGrp="1"/>
          </p:cNvSpPr>
          <p:nvPr/>
        </p:nvSpPr>
        <p:spPr>
          <a:xfrm>
            <a:off x="619125" y="942975"/>
            <a:ext cx="110490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1875" dirty="0">
                <a:latin typeface="Aptos" panose="020B0004020202020204" pitchFamily="34" charset="0"/>
              </a:rPr>
              <a:t>A phased evaluation should establish local applicability before predictions influence student-support decisions.</a:t>
            </a:r>
            <a:endParaRPr sz="1875"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FFB0C-A29A-476A-B845-7B75EB1BF848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2859981371"/>
              </p:ext>
            </p:extLst>
          </p:nvPr>
        </p:nvGraphicFramePr>
        <p:xfrm>
          <a:off x="571500" y="1981200"/>
          <a:ext cx="11049000" cy="32385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Phase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Activities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Progression requirement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1. Readiness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Check local data, timestamps, intended use, ownership and privacy.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Inputs predict a genuinely future outcome.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2. Shadow 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Generate predictions without changing services; observe later outcomes.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Review local performance and group errors against agreed criteria.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3. Controlled pilot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Compare additional supportive outreach with usual practice.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7324D"/>
                          </a:solidFill>
                          <a:latin typeface="Aptos" panose="020B0004020202020204" pitchFamily="34" charset="0"/>
                          <a:ea typeface="Helvetica Neue"/>
                          <a:cs typeface="Helvetica Neue"/>
                        </a:rPr>
                        <a:t>Assess incremental retention, costs, access and unintended effects.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D0E4FBF-36F4-4726-950B-33535522D7CE}"/>
              </a:ext>
            </a:extLst>
          </p:cNvPr>
          <p:cNvSpPr>
            <a:spLocks noGrp="1"/>
          </p:cNvSpPr>
          <p:nvPr/>
        </p:nvSpPr>
        <p:spPr>
          <a:xfrm>
            <a:off x="571500" y="5553075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The academic calendar determines the timeline. A short technical test cannot establish retention impact.</a:t>
            </a:r>
          </a:p>
        </p:txBody>
      </p:sp>
    </p:spTree>
    <p:extLst>
      <p:ext uri="{BB962C8B-B14F-4D97-AF65-F5344CB8AC3E}">
        <p14:creationId xmlns:p14="http://schemas.microsoft.com/office/powerpoint/2010/main" val="43614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74000F9-1DD6-4257-8DA0-074C59ACD510}"/>
              </a:ext>
            </a:extLst>
          </p:cNvPr>
          <p:cNvSpPr>
            <a:spLocks noGrp="1"/>
          </p:cNvSpPr>
          <p:nvPr/>
        </p:nvSpPr>
        <p:spPr>
          <a:xfrm>
            <a:off x="571500" y="523875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00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Recommendation: </a:t>
            </a:r>
            <a:r>
              <a:rPr lang="en-PH" sz="3200" b="1" dirty="0">
                <a:latin typeface="Aptos" panose="020B0004020202020204" pitchFamily="34" charset="0"/>
              </a:rPr>
              <a:t>A Controlled Pilot</a:t>
            </a:r>
            <a:endParaRPr sz="3200" b="1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58C6C-F26F-44B3-AEA5-92E1B8DA1368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10490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1875" dirty="0">
                <a:latin typeface="Aptos" panose="020B0004020202020204" pitchFamily="34" charset="0"/>
              </a:rPr>
              <a:t>Proceed to readiness assessment and prospective evaluation before broader institutional use.</a:t>
            </a:r>
            <a:endParaRPr sz="1875"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1AA423-6051-4854-A99D-2C216BD3DEB8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Project analysis; proposed actions are not measured outcomes.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0CCAF8-492D-4710-8422-E7D6DCA18C94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9A6FD1-A39F-4B89-B49C-4FF849692D74}"/>
              </a:ext>
            </a:extLst>
          </p:cNvPr>
          <p:cNvSpPr>
            <a:spLocks noGrp="1"/>
          </p:cNvSpPr>
          <p:nvPr/>
        </p:nvSpPr>
        <p:spPr>
          <a:xfrm>
            <a:off x="579631" y="1715953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73.2%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9C76E-2724-46E4-97A1-B68F40A00C24}"/>
              </a:ext>
            </a:extLst>
          </p:cNvPr>
          <p:cNvSpPr>
            <a:spLocks noGrp="1"/>
          </p:cNvSpPr>
          <p:nvPr/>
        </p:nvSpPr>
        <p:spPr>
          <a:xfrm>
            <a:off x="579631" y="2406516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of actual dropouts identified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6EC63-C547-4DBE-8E31-7CEEDC849C58}"/>
              </a:ext>
            </a:extLst>
          </p:cNvPr>
          <p:cNvSpPr>
            <a:spLocks noGrp="1"/>
          </p:cNvSpPr>
          <p:nvPr/>
        </p:nvSpPr>
        <p:spPr>
          <a:xfrm>
            <a:off x="579631" y="3573328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dirty="0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86.0%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975C43-2F8C-4DF6-B735-1EDE7657E24E}"/>
              </a:ext>
            </a:extLst>
          </p:cNvPr>
          <p:cNvSpPr>
            <a:spLocks noGrp="1"/>
          </p:cNvSpPr>
          <p:nvPr/>
        </p:nvSpPr>
        <p:spPr>
          <a:xfrm>
            <a:off x="579631" y="4263890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of dropout predictions correct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1895BC-46C7-49EE-9337-92550C29D778}"/>
              </a:ext>
            </a:extLst>
          </p:cNvPr>
          <p:cNvSpPr>
            <a:spLocks noGrp="1"/>
          </p:cNvSpPr>
          <p:nvPr/>
        </p:nvSpPr>
        <p:spPr>
          <a:xfrm>
            <a:off x="5325871" y="1828800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Conditions for broader 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E106CB-F6AA-4144-A2D9-1BB53C453F32}"/>
              </a:ext>
            </a:extLst>
          </p:cNvPr>
          <p:cNvSpPr>
            <a:spLocks noGrp="1"/>
          </p:cNvSpPr>
          <p:nvPr/>
        </p:nvSpPr>
        <p:spPr>
          <a:xfrm>
            <a:off x="5325871" y="2447925"/>
            <a:ext cx="5953125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Verified timing and performance on future cohorts</a:t>
            </a:r>
          </a:p>
          <a:p>
            <a:endParaRPr sz="1950" b="0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Evidence that support improves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sz="1950" b="0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Acceptable cost, workload and group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sz="1950" b="0" dirty="0">
              <a:solidFill>
                <a:srgbClr val="17324D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Human oversight and correction processes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B65731-B112-4443-957A-C58D90511F66}"/>
              </a:ext>
            </a:extLst>
          </p:cNvPr>
          <p:cNvSpPr>
            <a:spLocks noGrp="1"/>
          </p:cNvSpPr>
          <p:nvPr/>
        </p:nvSpPr>
        <p:spPr>
          <a:xfrm>
            <a:off x="579631" y="54102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PH" sz="1875" dirty="0">
                <a:latin typeface="Aptos" panose="020B0004020202020204" pitchFamily="34" charset="0"/>
              </a:rPr>
              <a:t>The project supports further evaluation of analytics-assisted student support. It does not yet establish financial returns, intervention effectiveness, or readiness for autonomous decisions.</a:t>
            </a:r>
            <a:endParaRPr sz="1875" b="0" dirty="0">
              <a:solidFill>
                <a:srgbClr val="516170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B68C3C-F7FC-AB2D-63C6-13CD097AFA15}"/>
              </a:ext>
            </a:extLst>
          </p:cNvPr>
          <p:cNvSpPr txBox="1"/>
          <p:nvPr/>
        </p:nvSpPr>
        <p:spPr>
          <a:xfrm>
            <a:off x="579631" y="5082658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latin typeface="Aptos" panose="020B0004020202020204" pitchFamily="34" charset="0"/>
              </a:rPr>
              <a:t>Conclusion:</a:t>
            </a:r>
            <a:endParaRPr lang="en-US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1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1271C3-C44B-4F08-9D67-2CAD234892E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References and evidence 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58E70-3BE1-4BFA-9DE4-B3085B1581B6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61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ACFDF-E149-4B2C-8F07-54534ACF7C38}"/>
              </a:ext>
            </a:extLst>
          </p:cNvPr>
          <p:cNvSpPr>
            <a:spLocks noGrp="1"/>
          </p:cNvSpPr>
          <p:nvPr/>
        </p:nvSpPr>
        <p:spPr>
          <a:xfrm>
            <a:off x="571500" y="19621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87B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 dirty="0">
                <a:solidFill>
                  <a:srgbClr val="287BA0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2B70A7-B3A0-4CE5-99F7-B334E55072D3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 err="1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Realinho</a:t>
            </a:r>
            <a:r>
              <a:rPr sz="1725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, V., Vieira Martins, M., Machado, J., &amp; Baptista, L. (2021).</a:t>
            </a:r>
          </a:p>
          <a:p>
            <a:pPr>
              <a:defRPr sz="17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Predict Students’ Dropout and Academic Success. UCI Machine Learning Repository.</a:t>
            </a:r>
          </a:p>
          <a:p>
            <a:pPr>
              <a:defRPr sz="17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https://</a:t>
            </a:r>
            <a:r>
              <a:rPr sz="1725" b="0" dirty="0" err="1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doi.org</a:t>
            </a:r>
            <a:r>
              <a:rPr sz="1725" b="0" dirty="0">
                <a:solidFill>
                  <a:srgbClr val="17324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/10.24432/C5MC89</a:t>
            </a:r>
          </a:p>
        </p:txBody>
      </p:sp>
    </p:spTree>
    <p:extLst>
      <p:ext uri="{BB962C8B-B14F-4D97-AF65-F5344CB8AC3E}">
        <p14:creationId xmlns:p14="http://schemas.microsoft.com/office/powerpoint/2010/main" val="10198568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</Words>
  <Application>Microsoft Macintosh PowerPoint</Application>
  <DocSecurity>0</DocSecurity>
  <PresentationFormat>Widescreen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 Christian Gobres</cp:lastModifiedBy>
  <cp:revision>1</cp:revision>
  <dcterms:created xsi:type="dcterms:W3CDTF">2026-09-23T14:27:33Z</dcterms:created>
  <dcterms:modified xsi:type="dcterms:W3CDTF">2026-09-23T15:13:01Z</dcterms:modified>
</cp:coreProperties>
</file>